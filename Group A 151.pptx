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5"/>
  </p:notesMasterIdLst>
  <p:handoutMasterIdLst>
    <p:handoutMasterId r:id="rId16"/>
  </p:handoutMasterIdLst>
  <p:sldIdLst>
    <p:sldId id="289" r:id="rId5"/>
    <p:sldId id="340" r:id="rId6"/>
    <p:sldId id="343" r:id="rId7"/>
    <p:sldId id="349" r:id="rId8"/>
    <p:sldId id="341" r:id="rId9"/>
    <p:sldId id="350" r:id="rId10"/>
    <p:sldId id="348" r:id="rId11"/>
    <p:sldId id="347" r:id="rId12"/>
    <p:sldId id="345" r:id="rId13"/>
    <p:sldId id="34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6694B8-9DB1-B166-E28F-CE7D10D086D5}" v="2972" dt="2025-11-30T00:14:14.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77"/>
    <p:restoredTop sz="94647"/>
  </p:normalViewPr>
  <p:slideViewPr>
    <p:cSldViewPr snapToGrid="0">
      <p:cViewPr varScale="1">
        <p:scale>
          <a:sx n="146" d="100"/>
          <a:sy n="146" d="100"/>
        </p:scale>
        <p:origin x="184" y="2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01/12/2025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01/12/2025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vert="horz" lIns="0" tIns="0" rIns="0" bIns="0" rtlCol="0" anchor="t">
            <a:noAutofit/>
          </a:bodyPr>
          <a:lstStyle/>
          <a:p>
            <a:r>
              <a:rPr lang="en-US" sz="2000" dirty="0"/>
              <a:t>Group Name:        Group A 151                          Name of Student Presenting: Bhargav Konduru</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1997057" y="4608001"/>
            <a:ext cx="11094999" cy="1814767"/>
          </a:xfrm>
        </p:spPr>
        <p:txBody>
          <a:bodyPr/>
          <a:lstStyle/>
          <a:p>
            <a:endParaRPr lang="en-GB" dirty="0"/>
          </a:p>
          <a:p>
            <a:r>
              <a:rPr lang="en-GB" dirty="0"/>
              <a:t>			                                                                                                     </a:t>
            </a:r>
            <a:endParaRPr lang="en-GB" dirty="0">
              <a:cs typeface="Arial"/>
            </a:endParaRPr>
          </a:p>
          <a:p>
            <a:r>
              <a:rPr lang="en-GB" sz="1400" dirty="0"/>
              <a:t>			</a:t>
            </a:r>
            <a:endParaRPr lang="en-GB" sz="1400" dirty="0">
              <a:cs typeface="Arial"/>
            </a:endParaRPr>
          </a:p>
          <a:p>
            <a:r>
              <a:rPr lang="en-GB" sz="1400" dirty="0">
                <a:cs typeface="Arial"/>
              </a:rPr>
              <a:t>                                                                                                                                  </a:t>
            </a:r>
          </a:p>
          <a:p>
            <a:r>
              <a:rPr lang="en-GB" dirty="0"/>
              <a:t> </a:t>
            </a:r>
          </a:p>
        </p:txBody>
      </p:sp>
      <p:sp>
        <p:nvSpPr>
          <p:cNvPr id="5" name="TextBox 4">
            <a:extLst>
              <a:ext uri="{FF2B5EF4-FFF2-40B4-BE49-F238E27FC236}">
                <a16:creationId xmlns:a16="http://schemas.microsoft.com/office/drawing/2014/main" id="{1358138B-722A-A342-7037-4F0819A4D57E}"/>
              </a:ext>
            </a:extLst>
          </p:cNvPr>
          <p:cNvSpPr txBox="1"/>
          <p:nvPr/>
        </p:nvSpPr>
        <p:spPr>
          <a:xfrm>
            <a:off x="419548" y="301214"/>
            <a:ext cx="11370833" cy="1477328"/>
          </a:xfrm>
          <a:prstGeom prst="rect">
            <a:avLst/>
          </a:prstGeom>
          <a:noFill/>
        </p:spPr>
        <p:txBody>
          <a:bodyPr wrap="square" rtlCol="0">
            <a:spAutoFit/>
          </a:bodyPr>
          <a:lstStyle/>
          <a:p>
            <a:r>
              <a:rPr lang="en-US" sz="1500" dirty="0">
                <a:solidFill>
                  <a:schemeClr val="bg1"/>
                </a:solidFill>
              </a:rPr>
              <a:t>Module: 7COM1079-2025      Group No : A151                                   Name of Student Attendees:</a:t>
            </a:r>
          </a:p>
          <a:p>
            <a:r>
              <a:rPr lang="en-US" sz="1500" dirty="0">
                <a:solidFill>
                  <a:schemeClr val="bg1"/>
                </a:solidFill>
              </a:rPr>
              <a:t>							Viswas Chowdary Kovi (24109739)</a:t>
            </a:r>
          </a:p>
          <a:p>
            <a:r>
              <a:rPr lang="en-US" sz="1500" dirty="0">
                <a:solidFill>
                  <a:schemeClr val="bg1"/>
                </a:solidFill>
              </a:rPr>
              <a:t>							Meghana Jetti (24160848)</a:t>
            </a:r>
          </a:p>
          <a:p>
            <a:r>
              <a:rPr lang="en-US" sz="1500" dirty="0">
                <a:solidFill>
                  <a:schemeClr val="bg1"/>
                </a:solidFill>
              </a:rPr>
              <a:t>							Bhargav Konduru (24127423)</a:t>
            </a:r>
          </a:p>
          <a:p>
            <a:r>
              <a:rPr lang="en-US" sz="1500" dirty="0">
                <a:solidFill>
                  <a:schemeClr val="bg1"/>
                </a:solidFill>
              </a:rPr>
              <a:t>							Keerthi Chittem (24151430)</a:t>
            </a:r>
          </a:p>
          <a:p>
            <a:r>
              <a:rPr lang="en-US" sz="1500" dirty="0">
                <a:solidFill>
                  <a:schemeClr val="bg1"/>
                </a:solidFill>
              </a:rPr>
              <a:t>							Venkat Reddy Sathi (24154230)</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vert="horz" lIns="0" tIns="0" rIns="0" bIns="0" rtlCol="0" anchor="t">
            <a:noAutofit/>
          </a:bodyPr>
          <a:lstStyle/>
          <a:p>
            <a:pPr>
              <a:spcAft>
                <a:spcPts val="0"/>
              </a:spcAft>
            </a:pPr>
            <a:r>
              <a:rPr lang="en-GB" dirty="0">
                <a:solidFill>
                  <a:srgbClr val="203232"/>
                </a:solidFill>
                <a:cs typeface="Arial"/>
              </a:rPr>
              <a:t>Here is a sample of our dataset: </a:t>
            </a:r>
            <a:endParaRPr lang="en-GB" sz="18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Group A 151</a:t>
            </a:r>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4884" y="1735771"/>
            <a:ext cx="9965844" cy="2924718"/>
          </a:xfrm>
        </p:spPr>
        <p:txBody>
          <a:bodyPr>
            <a:normAutofit/>
          </a:bodyPr>
          <a:lstStyle/>
          <a:p>
            <a:pPr>
              <a:lnSpc>
                <a:spcPts val="2880"/>
              </a:lnSpc>
              <a:spcBef>
                <a:spcPts val="0"/>
              </a:spcBef>
              <a:spcAft>
                <a:spcPts val="992"/>
              </a:spcAft>
            </a:pPr>
            <a:r>
              <a:rPr lang="en-GB" sz="2000" b="0" dirty="0">
                <a:cs typeface="Arial" panose="020B0604020202020204" pitchFamily="34" charset="0"/>
              </a:rPr>
              <a:t>Dataset ID: fitness_class_2212</a:t>
            </a:r>
            <a:br>
              <a:rPr lang="en-GB" sz="2000" dirty="0">
                <a:cs typeface="Arial"/>
              </a:rPr>
            </a:br>
            <a:r>
              <a:rPr lang="en-GB" sz="2000" b="0" dirty="0">
                <a:cs typeface="Arial" panose="020B0604020202020204" pitchFamily="34" charset="0"/>
              </a:rPr>
              <a:t>Sample Data:</a:t>
            </a:r>
            <a:br>
              <a:rPr lang="en-GB" sz="2000" dirty="0">
                <a:cs typeface="Arial"/>
              </a:rPr>
            </a:br>
            <a:br>
              <a:rPr lang="en-US" sz="2000" dirty="0">
                <a:cs typeface="Arial"/>
              </a:rPr>
            </a:br>
            <a:br>
              <a:rPr lang="en-US" sz="2000" dirty="0">
                <a:cs typeface="Arial"/>
              </a:rPr>
            </a:br>
            <a:br>
              <a:rPr lang="en-US" sz="2000" dirty="0">
                <a:cs typeface="Arial"/>
              </a:rPr>
            </a:br>
            <a:endParaRPr lang="en-US" sz="2000" dirty="0">
              <a:cs typeface="Arial"/>
            </a:endParaRPr>
          </a:p>
        </p:txBody>
      </p:sp>
      <p:sp>
        <p:nvSpPr>
          <p:cNvPr id="5" name="Rectangle 1">
            <a:extLst>
              <a:ext uri="{FF2B5EF4-FFF2-40B4-BE49-F238E27FC236}">
                <a16:creationId xmlns:a16="http://schemas.microsoft.com/office/drawing/2014/main" id="{986BD72A-CA08-8353-D389-993E367FECA6}"/>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ChestPainType</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graphicFrame>
        <p:nvGraphicFramePr>
          <p:cNvPr id="6" name="Table 5">
            <a:extLst>
              <a:ext uri="{FF2B5EF4-FFF2-40B4-BE49-F238E27FC236}">
                <a16:creationId xmlns:a16="http://schemas.microsoft.com/office/drawing/2014/main" id="{1F0F05B6-C309-362B-5143-6840E9BC18B7}"/>
              </a:ext>
            </a:extLst>
          </p:cNvPr>
          <p:cNvGraphicFramePr>
            <a:graphicFrameLocks noGrp="1"/>
          </p:cNvGraphicFramePr>
          <p:nvPr>
            <p:extLst>
              <p:ext uri="{D42A27DB-BD31-4B8C-83A1-F6EECF244321}">
                <p14:modId xmlns:p14="http://schemas.microsoft.com/office/powerpoint/2010/main" val="631593947"/>
              </p:ext>
            </p:extLst>
          </p:nvPr>
        </p:nvGraphicFramePr>
        <p:xfrm>
          <a:off x="964884" y="2526107"/>
          <a:ext cx="10126250" cy="2377440"/>
        </p:xfrm>
        <a:graphic>
          <a:graphicData uri="http://schemas.openxmlformats.org/drawingml/2006/table">
            <a:tbl>
              <a:tblPr firstRow="1" bandRow="1">
                <a:tableStyleId>{5C22544A-7EE6-4342-B048-85BDC9FD1C3A}</a:tableStyleId>
              </a:tblPr>
              <a:tblGrid>
                <a:gridCol w="1832104">
                  <a:extLst>
                    <a:ext uri="{9D8B030D-6E8A-4147-A177-3AD203B41FA5}">
                      <a16:colId xmlns:a16="http://schemas.microsoft.com/office/drawing/2014/main" val="2973992608"/>
                    </a:ext>
                  </a:extLst>
                </a:gridCol>
                <a:gridCol w="1516828">
                  <a:extLst>
                    <a:ext uri="{9D8B030D-6E8A-4147-A177-3AD203B41FA5}">
                      <a16:colId xmlns:a16="http://schemas.microsoft.com/office/drawing/2014/main" val="1840574696"/>
                    </a:ext>
                  </a:extLst>
                </a:gridCol>
                <a:gridCol w="1589905">
                  <a:extLst>
                    <a:ext uri="{9D8B030D-6E8A-4147-A177-3AD203B41FA5}">
                      <a16:colId xmlns:a16="http://schemas.microsoft.com/office/drawing/2014/main" val="2046814494"/>
                    </a:ext>
                  </a:extLst>
                </a:gridCol>
                <a:gridCol w="787535">
                  <a:extLst>
                    <a:ext uri="{9D8B030D-6E8A-4147-A177-3AD203B41FA5}">
                      <a16:colId xmlns:a16="http://schemas.microsoft.com/office/drawing/2014/main" val="1215385792"/>
                    </a:ext>
                  </a:extLst>
                </a:gridCol>
                <a:gridCol w="2076226">
                  <a:extLst>
                    <a:ext uri="{9D8B030D-6E8A-4147-A177-3AD203B41FA5}">
                      <a16:colId xmlns:a16="http://schemas.microsoft.com/office/drawing/2014/main" val="1582637811"/>
                    </a:ext>
                  </a:extLst>
                </a:gridCol>
                <a:gridCol w="2323652">
                  <a:extLst>
                    <a:ext uri="{9D8B030D-6E8A-4147-A177-3AD203B41FA5}">
                      <a16:colId xmlns:a16="http://schemas.microsoft.com/office/drawing/2014/main" val="338218769"/>
                    </a:ext>
                  </a:extLst>
                </a:gridCol>
              </a:tblGrid>
              <a:tr h="370840">
                <a:tc>
                  <a:txBody>
                    <a:bodyPr/>
                    <a:lstStyle/>
                    <a:p>
                      <a:r>
                        <a:rPr lang="en-US" sz="2000" dirty="0"/>
                        <a:t>Participant ID</a:t>
                      </a:r>
                    </a:p>
                  </a:txBody>
                  <a:tcPr/>
                </a:tc>
                <a:tc>
                  <a:txBody>
                    <a:bodyPr/>
                    <a:lstStyle/>
                    <a:p>
                      <a:r>
                        <a:rPr lang="en-US" sz="2000" dirty="0"/>
                        <a:t>Class Type</a:t>
                      </a:r>
                    </a:p>
                  </a:txBody>
                  <a:tcPr/>
                </a:tc>
                <a:tc>
                  <a:txBody>
                    <a:bodyPr/>
                    <a:lstStyle/>
                    <a:p>
                      <a:r>
                        <a:rPr lang="en-US" sz="2000" dirty="0"/>
                        <a:t>Time Slot</a:t>
                      </a:r>
                    </a:p>
                  </a:txBody>
                  <a:tcPr/>
                </a:tc>
                <a:tc>
                  <a:txBody>
                    <a:bodyPr/>
                    <a:lstStyle/>
                    <a:p>
                      <a:r>
                        <a:rPr lang="en-US" sz="2000" dirty="0"/>
                        <a:t>Age</a:t>
                      </a:r>
                    </a:p>
                  </a:txBody>
                  <a:tcPr/>
                </a:tc>
                <a:tc>
                  <a:txBody>
                    <a:bodyPr/>
                    <a:lstStyle/>
                    <a:p>
                      <a:r>
                        <a:rPr lang="en-US" sz="2000" dirty="0"/>
                        <a:t>Calorie Burned</a:t>
                      </a:r>
                    </a:p>
                  </a:txBody>
                  <a:tcPr/>
                </a:tc>
                <a:tc>
                  <a:txBody>
                    <a:bodyPr/>
                    <a:lstStyle/>
                    <a:p>
                      <a:r>
                        <a:rPr lang="en-US" sz="2000" dirty="0"/>
                        <a:t>Duration (mins)</a:t>
                      </a:r>
                    </a:p>
                  </a:txBody>
                  <a:tcPr/>
                </a:tc>
                <a:extLst>
                  <a:ext uri="{0D108BD9-81ED-4DB2-BD59-A6C34878D82A}">
                    <a16:rowId xmlns:a16="http://schemas.microsoft.com/office/drawing/2014/main" val="2935445338"/>
                  </a:ext>
                </a:extLst>
              </a:tr>
              <a:tr h="370840">
                <a:tc>
                  <a:txBody>
                    <a:bodyPr/>
                    <a:lstStyle/>
                    <a:p>
                      <a:r>
                        <a:rPr lang="en-US" sz="2000" dirty="0"/>
                        <a:t>001</a:t>
                      </a:r>
                    </a:p>
                  </a:txBody>
                  <a:tcPr/>
                </a:tc>
                <a:tc>
                  <a:txBody>
                    <a:bodyPr/>
                    <a:lstStyle/>
                    <a:p>
                      <a:r>
                        <a:rPr lang="en-US" sz="2000" dirty="0"/>
                        <a:t>Yoga</a:t>
                      </a:r>
                    </a:p>
                  </a:txBody>
                  <a:tcPr/>
                </a:tc>
                <a:tc>
                  <a:txBody>
                    <a:bodyPr/>
                    <a:lstStyle/>
                    <a:p>
                      <a:r>
                        <a:rPr lang="en-US" sz="2000" dirty="0"/>
                        <a:t>Morning</a:t>
                      </a:r>
                    </a:p>
                  </a:txBody>
                  <a:tcPr/>
                </a:tc>
                <a:tc>
                  <a:txBody>
                    <a:bodyPr/>
                    <a:lstStyle/>
                    <a:p>
                      <a:r>
                        <a:rPr lang="en-US" sz="2000" dirty="0"/>
                        <a:t>28</a:t>
                      </a:r>
                    </a:p>
                  </a:txBody>
                  <a:tcPr/>
                </a:tc>
                <a:tc>
                  <a:txBody>
                    <a:bodyPr/>
                    <a:lstStyle/>
                    <a:p>
                      <a:r>
                        <a:rPr lang="en-US" sz="2000" dirty="0"/>
                        <a:t>250</a:t>
                      </a:r>
                    </a:p>
                  </a:txBody>
                  <a:tcPr/>
                </a:tc>
                <a:tc>
                  <a:txBody>
                    <a:bodyPr/>
                    <a:lstStyle/>
                    <a:p>
                      <a:r>
                        <a:rPr lang="en-US" sz="2000" dirty="0"/>
                        <a:t>60</a:t>
                      </a:r>
                    </a:p>
                  </a:txBody>
                  <a:tcPr/>
                </a:tc>
                <a:extLst>
                  <a:ext uri="{0D108BD9-81ED-4DB2-BD59-A6C34878D82A}">
                    <a16:rowId xmlns:a16="http://schemas.microsoft.com/office/drawing/2014/main" val="2168944176"/>
                  </a:ext>
                </a:extLst>
              </a:tr>
              <a:tr h="370840">
                <a:tc>
                  <a:txBody>
                    <a:bodyPr/>
                    <a:lstStyle/>
                    <a:p>
                      <a:r>
                        <a:rPr lang="en-US" sz="2000" dirty="0"/>
                        <a:t>002</a:t>
                      </a:r>
                    </a:p>
                  </a:txBody>
                  <a:tcPr/>
                </a:tc>
                <a:tc>
                  <a:txBody>
                    <a:bodyPr/>
                    <a:lstStyle/>
                    <a:p>
                      <a:r>
                        <a:rPr lang="en-US" sz="2000" dirty="0"/>
                        <a:t>Zumba</a:t>
                      </a:r>
                    </a:p>
                  </a:txBody>
                  <a:tcPr/>
                </a:tc>
                <a:tc>
                  <a:txBody>
                    <a:bodyPr/>
                    <a:lstStyle/>
                    <a:p>
                      <a:r>
                        <a:rPr lang="en-US" sz="2000" dirty="0"/>
                        <a:t>Evening</a:t>
                      </a:r>
                    </a:p>
                  </a:txBody>
                  <a:tcPr/>
                </a:tc>
                <a:tc>
                  <a:txBody>
                    <a:bodyPr/>
                    <a:lstStyle/>
                    <a:p>
                      <a:r>
                        <a:rPr lang="en-US" sz="2000" dirty="0"/>
                        <a:t>35</a:t>
                      </a:r>
                    </a:p>
                  </a:txBody>
                  <a:tcPr/>
                </a:tc>
                <a:tc>
                  <a:txBody>
                    <a:bodyPr/>
                    <a:lstStyle/>
                    <a:p>
                      <a:r>
                        <a:rPr lang="en-US" sz="2000" dirty="0"/>
                        <a:t>420</a:t>
                      </a:r>
                    </a:p>
                  </a:txBody>
                  <a:tcPr/>
                </a:tc>
                <a:tc>
                  <a:txBody>
                    <a:bodyPr/>
                    <a:lstStyle/>
                    <a:p>
                      <a:r>
                        <a:rPr lang="en-US" sz="2000" dirty="0"/>
                        <a:t>45</a:t>
                      </a:r>
                    </a:p>
                  </a:txBody>
                  <a:tcPr/>
                </a:tc>
                <a:extLst>
                  <a:ext uri="{0D108BD9-81ED-4DB2-BD59-A6C34878D82A}">
                    <a16:rowId xmlns:a16="http://schemas.microsoft.com/office/drawing/2014/main" val="574940168"/>
                  </a:ext>
                </a:extLst>
              </a:tr>
              <a:tr h="370840">
                <a:tc>
                  <a:txBody>
                    <a:bodyPr/>
                    <a:lstStyle/>
                    <a:p>
                      <a:r>
                        <a:rPr lang="en-US" sz="2000" dirty="0"/>
                        <a:t>003</a:t>
                      </a:r>
                    </a:p>
                  </a:txBody>
                  <a:tcPr/>
                </a:tc>
                <a:tc>
                  <a:txBody>
                    <a:bodyPr/>
                    <a:lstStyle/>
                    <a:p>
                      <a:r>
                        <a:rPr lang="en-US" sz="2000" dirty="0"/>
                        <a:t>Spin</a:t>
                      </a:r>
                    </a:p>
                  </a:txBody>
                  <a:tcPr/>
                </a:tc>
                <a:tc>
                  <a:txBody>
                    <a:bodyPr/>
                    <a:lstStyle/>
                    <a:p>
                      <a:r>
                        <a:rPr lang="en-US" sz="2000" dirty="0"/>
                        <a:t>Morning</a:t>
                      </a:r>
                    </a:p>
                  </a:txBody>
                  <a:tcPr/>
                </a:tc>
                <a:tc>
                  <a:txBody>
                    <a:bodyPr/>
                    <a:lstStyle/>
                    <a:p>
                      <a:r>
                        <a:rPr lang="en-US" sz="2000" dirty="0"/>
                        <a:t>41</a:t>
                      </a:r>
                    </a:p>
                  </a:txBody>
                  <a:tcPr/>
                </a:tc>
                <a:tc>
                  <a:txBody>
                    <a:bodyPr/>
                    <a:lstStyle/>
                    <a:p>
                      <a:r>
                        <a:rPr lang="en-US" sz="2000" dirty="0"/>
                        <a:t>580</a:t>
                      </a:r>
                    </a:p>
                  </a:txBody>
                  <a:tcPr/>
                </a:tc>
                <a:tc>
                  <a:txBody>
                    <a:bodyPr/>
                    <a:lstStyle/>
                    <a:p>
                      <a:r>
                        <a:rPr lang="en-US" sz="2000" dirty="0"/>
                        <a:t>75</a:t>
                      </a:r>
                    </a:p>
                  </a:txBody>
                  <a:tcPr/>
                </a:tc>
                <a:extLst>
                  <a:ext uri="{0D108BD9-81ED-4DB2-BD59-A6C34878D82A}">
                    <a16:rowId xmlns:a16="http://schemas.microsoft.com/office/drawing/2014/main" val="496792269"/>
                  </a:ext>
                </a:extLst>
              </a:tr>
              <a:tr h="370840">
                <a:tc>
                  <a:txBody>
                    <a:bodyPr/>
                    <a:lstStyle/>
                    <a:p>
                      <a:r>
                        <a:rPr lang="en-US" sz="2000" dirty="0"/>
                        <a:t>004</a:t>
                      </a:r>
                    </a:p>
                  </a:txBody>
                  <a:tcPr/>
                </a:tc>
                <a:tc>
                  <a:txBody>
                    <a:bodyPr/>
                    <a:lstStyle/>
                    <a:p>
                      <a:r>
                        <a:rPr lang="en-US" sz="2000" dirty="0"/>
                        <a:t>Pilates</a:t>
                      </a:r>
                    </a:p>
                  </a:txBody>
                  <a:tcPr/>
                </a:tc>
                <a:tc>
                  <a:txBody>
                    <a:bodyPr/>
                    <a:lstStyle/>
                    <a:p>
                      <a:r>
                        <a:rPr lang="en-US" sz="2000" dirty="0"/>
                        <a:t>Evening</a:t>
                      </a:r>
                    </a:p>
                  </a:txBody>
                  <a:tcPr/>
                </a:tc>
                <a:tc>
                  <a:txBody>
                    <a:bodyPr/>
                    <a:lstStyle/>
                    <a:p>
                      <a:r>
                        <a:rPr lang="en-US" sz="2000" dirty="0"/>
                        <a:t>22</a:t>
                      </a:r>
                    </a:p>
                  </a:txBody>
                  <a:tcPr/>
                </a:tc>
                <a:tc>
                  <a:txBody>
                    <a:bodyPr/>
                    <a:lstStyle/>
                    <a:p>
                      <a:r>
                        <a:rPr lang="en-US" sz="2000" dirty="0"/>
                        <a:t>180</a:t>
                      </a:r>
                    </a:p>
                  </a:txBody>
                  <a:tcPr/>
                </a:tc>
                <a:tc>
                  <a:txBody>
                    <a:bodyPr/>
                    <a:lstStyle/>
                    <a:p>
                      <a:r>
                        <a:rPr lang="en-US" sz="2000" dirty="0"/>
                        <a:t>50</a:t>
                      </a:r>
                    </a:p>
                  </a:txBody>
                  <a:tcPr/>
                </a:tc>
                <a:extLst>
                  <a:ext uri="{0D108BD9-81ED-4DB2-BD59-A6C34878D82A}">
                    <a16:rowId xmlns:a16="http://schemas.microsoft.com/office/drawing/2014/main" val="1189374461"/>
                  </a:ext>
                </a:extLst>
              </a:tr>
              <a:tr h="370840">
                <a:tc>
                  <a:txBody>
                    <a:bodyPr/>
                    <a:lstStyle/>
                    <a:p>
                      <a:r>
                        <a:rPr lang="en-US" sz="2000" dirty="0"/>
                        <a:t>005</a:t>
                      </a:r>
                    </a:p>
                  </a:txBody>
                  <a:tcPr/>
                </a:tc>
                <a:tc>
                  <a:txBody>
                    <a:bodyPr/>
                    <a:lstStyle/>
                    <a:p>
                      <a:r>
                        <a:rPr lang="en-US" sz="2000" dirty="0"/>
                        <a:t>HIIT</a:t>
                      </a:r>
                    </a:p>
                  </a:txBody>
                  <a:tcPr/>
                </a:tc>
                <a:tc>
                  <a:txBody>
                    <a:bodyPr/>
                    <a:lstStyle/>
                    <a:p>
                      <a:r>
                        <a:rPr lang="en-US" sz="2000" dirty="0"/>
                        <a:t>Morning</a:t>
                      </a:r>
                    </a:p>
                  </a:txBody>
                  <a:tcPr/>
                </a:tc>
                <a:tc>
                  <a:txBody>
                    <a:bodyPr/>
                    <a:lstStyle/>
                    <a:p>
                      <a:r>
                        <a:rPr lang="en-US" sz="2000" dirty="0"/>
                        <a:t>30</a:t>
                      </a:r>
                    </a:p>
                  </a:txBody>
                  <a:tcPr/>
                </a:tc>
                <a:tc>
                  <a:txBody>
                    <a:bodyPr/>
                    <a:lstStyle/>
                    <a:p>
                      <a:r>
                        <a:rPr lang="en-US" sz="2000" dirty="0"/>
                        <a:t>650</a:t>
                      </a:r>
                    </a:p>
                  </a:txBody>
                  <a:tcPr/>
                </a:tc>
                <a:tc>
                  <a:txBody>
                    <a:bodyPr/>
                    <a:lstStyle/>
                    <a:p>
                      <a:r>
                        <a:rPr lang="en-US" sz="2000" dirty="0"/>
                        <a:t>60</a:t>
                      </a:r>
                    </a:p>
                  </a:txBody>
                  <a:tcPr/>
                </a:tc>
                <a:extLst>
                  <a:ext uri="{0D108BD9-81ED-4DB2-BD59-A6C34878D82A}">
                    <a16:rowId xmlns:a16="http://schemas.microsoft.com/office/drawing/2014/main" val="3168817618"/>
                  </a:ext>
                </a:extLst>
              </a:tr>
            </a:tbl>
          </a:graphicData>
        </a:graphic>
      </p:graphicFrame>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AED4A24-D83D-ED03-DC35-1D25B0B2A165}"/>
              </a:ext>
            </a:extLst>
          </p:cNvPr>
          <p:cNvSpPr>
            <a:spLocks noGrp="1"/>
          </p:cNvSpPr>
          <p:nvPr>
            <p:ph type="subTitle" idx="1"/>
          </p:nvPr>
        </p:nvSpPr>
        <p:spPr>
          <a:xfrm>
            <a:off x="966277" y="344123"/>
            <a:ext cx="9650123" cy="5400460"/>
          </a:xfrm>
        </p:spPr>
        <p:txBody>
          <a:bodyPr vert="horz" lIns="0" tIns="0" rIns="0" bIns="0" rtlCol="0" anchor="t">
            <a:noAutofit/>
          </a:bodyPr>
          <a:lstStyle/>
          <a:p>
            <a:pPr>
              <a:lnSpc>
                <a:spcPct val="100000"/>
              </a:lnSpc>
            </a:pPr>
            <a:r>
              <a:rPr lang="en-US" sz="2000" dirty="0">
                <a:cs typeface="Arial"/>
              </a:rPr>
              <a:t>Dataset Relevance + Variable Selection</a:t>
            </a:r>
          </a:p>
          <a:p>
            <a:pPr>
              <a:lnSpc>
                <a:spcPct val="100000"/>
              </a:lnSpc>
            </a:pPr>
            <a:r>
              <a:rPr lang="en-US" sz="1400" dirty="0">
                <a:cs typeface="Arial"/>
              </a:rPr>
              <a:t>Data Relevance: </a:t>
            </a:r>
          </a:p>
          <a:p>
            <a:pPr>
              <a:lnSpc>
                <a:spcPct val="100000"/>
              </a:lnSpc>
            </a:pPr>
            <a:r>
              <a:rPr lang="en-US" sz="1400" b="0" dirty="0">
                <a:cs typeface="Arial"/>
              </a:rPr>
              <a:t>The data set on fitness-class-2212 provides useful information about the fitness </a:t>
            </a:r>
            <a:r>
              <a:rPr lang="en-US" sz="1400" b="0" dirty="0" err="1">
                <a:cs typeface="Arial"/>
              </a:rPr>
              <a:t>behaviour</a:t>
            </a:r>
            <a:r>
              <a:rPr lang="en-US" sz="1400" b="0" dirty="0">
                <a:cs typeface="Arial"/>
              </a:rPr>
              <a:t> and its effects on physical outcomes. Knowledge of attendance patterns and performance variance among different types of classes and different demographics can be used in health interventions, make the best use of class time and tailor fitness </a:t>
            </a:r>
            <a:r>
              <a:rPr lang="en-US" sz="1400" b="0" dirty="0" err="1">
                <a:cs typeface="Arial"/>
              </a:rPr>
              <a:t>programmes</a:t>
            </a:r>
            <a:r>
              <a:rPr lang="en-US" sz="1400" b="0" dirty="0">
                <a:cs typeface="Arial"/>
              </a:rPr>
              <a:t>. It deals with the real-world issues concerning the health of the population, the wellness of individuals, and the efficiency of fitness services.</a:t>
            </a:r>
          </a:p>
          <a:p>
            <a:pPr>
              <a:lnSpc>
                <a:spcPct val="100000"/>
              </a:lnSpc>
            </a:pPr>
            <a:r>
              <a:rPr lang="en-US" sz="1400" dirty="0">
                <a:cs typeface="Arial"/>
              </a:rPr>
              <a:t>Variable Selection: </a:t>
            </a:r>
          </a:p>
          <a:p>
            <a:pPr>
              <a:lnSpc>
                <a:spcPct val="100000"/>
              </a:lnSpc>
            </a:pPr>
            <a:r>
              <a:rPr lang="en-US" sz="1400" b="0" dirty="0">
                <a:cs typeface="Arial"/>
              </a:rPr>
              <a:t>Independent Variable (IV)</a:t>
            </a:r>
          </a:p>
          <a:p>
            <a:pPr>
              <a:lnSpc>
                <a:spcPct val="100000"/>
              </a:lnSpc>
            </a:pPr>
            <a:r>
              <a:rPr lang="en-US" sz="1400" b="0" dirty="0">
                <a:cs typeface="Arial"/>
              </a:rPr>
              <a:t>Name: Time Slot</a:t>
            </a:r>
          </a:p>
          <a:p>
            <a:pPr>
              <a:lnSpc>
                <a:spcPct val="100000"/>
              </a:lnSpc>
            </a:pPr>
            <a:r>
              <a:rPr lang="en-US" sz="1400" b="0" dirty="0">
                <a:cs typeface="Arial"/>
              </a:rPr>
              <a:t>Datatype: Nominal (Evening, Morning)</a:t>
            </a:r>
          </a:p>
          <a:p>
            <a:pPr>
              <a:lnSpc>
                <a:spcPct val="100000"/>
              </a:lnSpc>
            </a:pPr>
            <a:r>
              <a:rPr lang="en-US" sz="1400" b="0" dirty="0">
                <a:cs typeface="Arial"/>
              </a:rPr>
              <a:t>Why Chosen: To determine whether the time of the day the fitness class is taken has an observable effect on the performance of the participants, in this case, caloric expenditure. This makes it possible to compare two different groups.</a:t>
            </a:r>
          </a:p>
          <a:p>
            <a:pPr>
              <a:lnSpc>
                <a:spcPct val="100000"/>
              </a:lnSpc>
            </a:pPr>
            <a:r>
              <a:rPr lang="en-US" sz="1400" b="0" dirty="0">
                <a:cs typeface="Arial"/>
              </a:rPr>
              <a:t>Dependent Variable (DV)</a:t>
            </a:r>
          </a:p>
          <a:p>
            <a:pPr>
              <a:lnSpc>
                <a:spcPct val="100000"/>
              </a:lnSpc>
            </a:pPr>
            <a:r>
              <a:rPr lang="en-US" sz="1400" b="0" dirty="0">
                <a:cs typeface="Arial"/>
              </a:rPr>
              <a:t>Name: Calories Burned</a:t>
            </a:r>
          </a:p>
          <a:p>
            <a:pPr>
              <a:lnSpc>
                <a:spcPct val="100000"/>
              </a:lnSpc>
            </a:pPr>
            <a:r>
              <a:rPr lang="en-US" sz="1400" b="0" dirty="0">
                <a:cs typeface="Arial"/>
              </a:rPr>
              <a:t>Datatype: Ratio</a:t>
            </a:r>
          </a:p>
          <a:p>
            <a:pPr>
              <a:lnSpc>
                <a:spcPct val="100000"/>
              </a:lnSpc>
            </a:pPr>
            <a:r>
              <a:rPr lang="en-US" sz="1400" b="0" dirty="0">
                <a:cs typeface="Arial"/>
              </a:rPr>
              <a:t>Why Chosen: This metric is a direct measure of the level and efficacy of a workout and it is a quantitative measure of the physical work. It is an important outcome variable in studies of fitness</a:t>
            </a:r>
          </a:p>
          <a:p>
            <a:pPr>
              <a:lnSpc>
                <a:spcPct val="100000"/>
              </a:lnSpc>
            </a:pPr>
            <a:endParaRPr lang="en-US" sz="1300" b="0" dirty="0">
              <a:cs typeface="Arial"/>
            </a:endParaRPr>
          </a:p>
        </p:txBody>
      </p:sp>
      <p:sp>
        <p:nvSpPr>
          <p:cNvPr id="3" name="Footer Placeholder 2">
            <a:extLst>
              <a:ext uri="{FF2B5EF4-FFF2-40B4-BE49-F238E27FC236}">
                <a16:creationId xmlns:a16="http://schemas.microsoft.com/office/drawing/2014/main" id="{1D0B0A94-7446-4C72-3125-FE6F32289A5E}"/>
              </a:ext>
            </a:extLst>
          </p:cNvPr>
          <p:cNvSpPr>
            <a:spLocks noGrp="1"/>
          </p:cNvSpPr>
          <p:nvPr>
            <p:ph type="ftr" sz="quarter" idx="11"/>
          </p:nvPr>
        </p:nvSpPr>
        <p:spPr>
          <a:xfrm>
            <a:off x="6260951" y="688488"/>
            <a:ext cx="1881683" cy="108247"/>
          </a:xfrm>
        </p:spPr>
        <p:txBody>
          <a:bodyPr/>
          <a:lstStyle/>
          <a:p>
            <a:r>
              <a:rPr lang="en-GB" dirty="0"/>
              <a:t>.</a:t>
            </a:r>
          </a:p>
        </p:txBody>
      </p:sp>
      <p:sp>
        <p:nvSpPr>
          <p:cNvPr id="4" name="Slide Number Placeholder 3">
            <a:extLst>
              <a:ext uri="{FF2B5EF4-FFF2-40B4-BE49-F238E27FC236}">
                <a16:creationId xmlns:a16="http://schemas.microsoft.com/office/drawing/2014/main" id="{942FF8B6-5723-16C5-28C3-CE485A633843}"/>
              </a:ext>
            </a:extLst>
          </p:cNvPr>
          <p:cNvSpPr>
            <a:spLocks noGrp="1"/>
          </p:cNvSpPr>
          <p:nvPr>
            <p:ph type="sldNum" sz="quarter" idx="12"/>
          </p:nvPr>
        </p:nvSpPr>
        <p:spPr/>
        <p:txBody>
          <a:bodyPr/>
          <a:lstStyle/>
          <a:p>
            <a:r>
              <a:rPr lang="en-GB" dirty="0"/>
              <a:t>.</a:t>
            </a:r>
          </a:p>
        </p:txBody>
      </p:sp>
    </p:spTree>
    <p:extLst>
      <p:ext uri="{BB962C8B-B14F-4D97-AF65-F5344CB8AC3E}">
        <p14:creationId xmlns:p14="http://schemas.microsoft.com/office/powerpoint/2010/main" val="1436127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9905BD2A-D851-088F-563C-ACFE7BE1330C}"/>
              </a:ext>
            </a:extLst>
          </p:cNvPr>
          <p:cNvSpPr>
            <a:spLocks noGrp="1"/>
          </p:cNvSpPr>
          <p:nvPr>
            <p:ph type="subTitle" idx="1"/>
          </p:nvPr>
        </p:nvSpPr>
        <p:spPr>
          <a:xfrm>
            <a:off x="965289" y="625150"/>
            <a:ext cx="10107323" cy="3900368"/>
          </a:xfrm>
        </p:spPr>
        <p:txBody>
          <a:bodyPr vert="horz" lIns="0" tIns="0" rIns="0" bIns="0" rtlCol="0" anchor="t">
            <a:noAutofit/>
          </a:bodyPr>
          <a:lstStyle/>
          <a:p>
            <a:r>
              <a:rPr lang="en-US" sz="2000" dirty="0">
                <a:cs typeface="Arial"/>
              </a:rPr>
              <a:t>Research Question:</a:t>
            </a:r>
          </a:p>
          <a:p>
            <a:r>
              <a:rPr lang="en-US" sz="1800" b="0" dirty="0">
                <a:cs typeface="Arial"/>
              </a:rPr>
              <a:t>Exploring Class Timing Impact </a:t>
            </a:r>
          </a:p>
          <a:p>
            <a:r>
              <a:rPr lang="en-US" sz="1800" b="0" dirty="0">
                <a:cs typeface="Arial"/>
              </a:rPr>
              <a:t>Standard Question Template: "Is there a difference in mean between Group A and Group B?"</a:t>
            </a:r>
            <a:endParaRPr lang="en-US" sz="1800" dirty="0"/>
          </a:p>
          <a:p>
            <a:r>
              <a:rPr lang="en-US" sz="1800" b="0" dirty="0">
                <a:cs typeface="Arial"/>
              </a:rPr>
              <a:t>Our Specific Research Question is:</a:t>
            </a:r>
          </a:p>
          <a:p>
            <a:r>
              <a:rPr lang="en-US" sz="1800" b="0" dirty="0">
                <a:cs typeface="Arial"/>
              </a:rPr>
              <a:t>Is there a difference in mean calories burned between participants attending morning classes and those attending evening classes?</a:t>
            </a:r>
          </a:p>
          <a:p>
            <a:r>
              <a:rPr lang="en-US" sz="1800" b="0" dirty="0">
                <a:cs typeface="Arial"/>
              </a:rPr>
              <a:t>The research question this paper seeks to establish whether the time of day a fitness class is taken plays an important role in determining the average number of calories that participants burn and this will give an idea on the best time to have a fitness class to gain maximum benefits of exercise</a:t>
            </a:r>
          </a:p>
        </p:txBody>
      </p:sp>
      <p:sp>
        <p:nvSpPr>
          <p:cNvPr id="3" name="Footer Placeholder 2">
            <a:extLst>
              <a:ext uri="{FF2B5EF4-FFF2-40B4-BE49-F238E27FC236}">
                <a16:creationId xmlns:a16="http://schemas.microsoft.com/office/drawing/2014/main" id="{D504A035-ECA3-BDB6-1879-268CA8D40F3D}"/>
              </a:ext>
            </a:extLst>
          </p:cNvPr>
          <p:cNvSpPr>
            <a:spLocks noGrp="1"/>
          </p:cNvSpPr>
          <p:nvPr>
            <p:ph type="ftr" sz="quarter" idx="11"/>
          </p:nvPr>
        </p:nvSpPr>
        <p:spPr/>
        <p:txBody>
          <a:bodyPr/>
          <a:lstStyle/>
          <a:p>
            <a:r>
              <a:rPr lang="en-GB" dirty="0"/>
              <a:t>.</a:t>
            </a:r>
          </a:p>
        </p:txBody>
      </p:sp>
    </p:spTree>
    <p:extLst>
      <p:ext uri="{BB962C8B-B14F-4D97-AF65-F5344CB8AC3E}">
        <p14:creationId xmlns:p14="http://schemas.microsoft.com/office/powerpoint/2010/main" val="1685516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364176" y="394997"/>
            <a:ext cx="10406581" cy="4636537"/>
          </a:xfrm>
        </p:spPr>
        <p:txBody>
          <a:bodyPr vert="horz" lIns="0" tIns="0" rIns="0" bIns="0" rtlCol="0" anchor="t">
            <a:noAutofit/>
          </a:bodyPr>
          <a:lstStyle/>
          <a:p>
            <a:pPr>
              <a:lnSpc>
                <a:spcPct val="100000"/>
              </a:lnSpc>
            </a:pPr>
            <a:r>
              <a:rPr lang="en-GB" sz="2000" dirty="0">
                <a:solidFill>
                  <a:schemeClr val="tx1"/>
                </a:solidFill>
                <a:latin typeface="Arial"/>
                <a:cs typeface="Arial"/>
              </a:rPr>
              <a:t>Hypothesis: Formulating Expectations</a:t>
            </a:r>
            <a:endParaRPr lang="en-GB" sz="2000" b="0" dirty="0">
              <a:solidFill>
                <a:schemeClr val="tx1"/>
              </a:solidFill>
              <a:latin typeface="Arial"/>
              <a:cs typeface="Arial"/>
            </a:endParaRPr>
          </a:p>
          <a:p>
            <a:pPr marL="457200" indent="-457200">
              <a:lnSpc>
                <a:spcPct val="100000"/>
              </a:lnSpc>
              <a:buAutoNum type="arabicPeriod"/>
            </a:pPr>
            <a:endParaRPr lang="en-GB" sz="2000" b="0" dirty="0">
              <a:solidFill>
                <a:schemeClr val="tx1"/>
              </a:solidFill>
              <a:latin typeface="Arial"/>
              <a:cs typeface="Arial"/>
            </a:endParaRPr>
          </a:p>
          <a:p>
            <a:pPr marL="457200" indent="-457200">
              <a:lnSpc>
                <a:spcPct val="100000"/>
              </a:lnSpc>
              <a:buAutoNum type="arabicPeriod"/>
            </a:pPr>
            <a:r>
              <a:rPr lang="en-GB" sz="1800" b="0" dirty="0">
                <a:solidFill>
                  <a:schemeClr val="tx1"/>
                </a:solidFill>
                <a:cs typeface="Arial"/>
              </a:rPr>
              <a:t>Null hypothesis (H</a:t>
            </a:r>
            <a:r>
              <a:rPr lang="en-GB" sz="1800" b="0" baseline="-25000" dirty="0">
                <a:solidFill>
                  <a:schemeClr val="tx1"/>
                </a:solidFill>
                <a:cs typeface="Arial"/>
              </a:rPr>
              <a:t>0</a:t>
            </a:r>
            <a:r>
              <a:rPr lang="en-GB" sz="1800" b="0" dirty="0">
                <a:solidFill>
                  <a:schemeClr val="tx1"/>
                </a:solidFill>
                <a:cs typeface="Arial"/>
              </a:rPr>
              <a:t>): </a:t>
            </a:r>
          </a:p>
          <a:p>
            <a:pPr>
              <a:lnSpc>
                <a:spcPct val="100000"/>
              </a:lnSpc>
            </a:pPr>
            <a:r>
              <a:rPr lang="en-US" sz="1800" b="0" dirty="0"/>
              <a:t>There is no difference between the mean calories burned on the participants who attend morning fitness classes and evening fitness classes.</a:t>
            </a:r>
          </a:p>
          <a:p>
            <a:pPr>
              <a:lnSpc>
                <a:spcPct val="100000"/>
              </a:lnSpc>
            </a:pPr>
            <a:r>
              <a:rPr lang="en-US" sz="1800" b="0" dirty="0"/>
              <a:t>According to this hypothesis, there is no effect of timing of classes on caloric expenditure.</a:t>
            </a:r>
          </a:p>
          <a:p>
            <a:pPr>
              <a:lnSpc>
                <a:spcPct val="100000"/>
              </a:lnSpc>
            </a:pPr>
            <a:endParaRPr lang="en-US" sz="1800" b="0" i="1" dirty="0">
              <a:solidFill>
                <a:schemeClr val="tx1"/>
              </a:solidFill>
              <a:cs typeface="Arial"/>
            </a:endParaRPr>
          </a:p>
          <a:p>
            <a:pPr marL="457200" indent="-457200">
              <a:lnSpc>
                <a:spcPct val="100000"/>
              </a:lnSpc>
              <a:buAutoNum type="arabicPeriod" startAt="2"/>
            </a:pPr>
            <a:r>
              <a:rPr lang="en-GB" sz="1800" b="0" dirty="0">
                <a:cs typeface="Arial"/>
              </a:rPr>
              <a:t>Alternative hypothesis (H</a:t>
            </a:r>
            <a:r>
              <a:rPr lang="en-GB" sz="1800" b="0" baseline="-25000" dirty="0">
                <a:cs typeface="Arial"/>
              </a:rPr>
              <a:t>1</a:t>
            </a:r>
            <a:r>
              <a:rPr lang="en-GB" sz="1800" b="0" dirty="0">
                <a:cs typeface="Arial"/>
              </a:rPr>
              <a:t>): </a:t>
            </a:r>
          </a:p>
          <a:p>
            <a:pPr>
              <a:lnSpc>
                <a:spcPct val="100000"/>
              </a:lnSpc>
            </a:pPr>
            <a:r>
              <a:rPr lang="en-GB" sz="1800" b="0" dirty="0">
                <a:cs typeface="Arial"/>
              </a:rPr>
              <a:t>The difference in mean calories burned among participants in morning fitness classes and evening fitness classes is different.</a:t>
            </a:r>
          </a:p>
          <a:p>
            <a:pPr>
              <a:lnSpc>
                <a:spcPct val="100000"/>
              </a:lnSpc>
            </a:pPr>
            <a:r>
              <a:rPr lang="en-GB" sz="1800" b="0" dirty="0">
                <a:solidFill>
                  <a:schemeClr val="tx1"/>
                </a:solidFill>
                <a:cs typeface="Arial"/>
              </a:rPr>
              <a:t>This theory assumes the existence of a effect of class timing on caloric expenditure.</a:t>
            </a:r>
          </a:p>
        </p:txBody>
      </p:sp>
    </p:spTree>
    <p:extLst>
      <p:ext uri="{BB962C8B-B14F-4D97-AF65-F5344CB8AC3E}">
        <p14:creationId xmlns:p14="http://schemas.microsoft.com/office/powerpoint/2010/main" val="2952338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3BFDF4AA-96E4-8793-7BE2-62E6BFDEB334}"/>
              </a:ext>
            </a:extLst>
          </p:cNvPr>
          <p:cNvSpPr>
            <a:spLocks noGrp="1"/>
          </p:cNvSpPr>
          <p:nvPr>
            <p:ph type="subTitle" idx="1"/>
          </p:nvPr>
        </p:nvSpPr>
        <p:spPr>
          <a:xfrm>
            <a:off x="942200" y="431022"/>
            <a:ext cx="7200000" cy="360000"/>
          </a:xfrm>
        </p:spPr>
        <p:txBody>
          <a:bodyPr/>
          <a:lstStyle/>
          <a:p>
            <a:r>
              <a:rPr lang="en-US" sz="2000" dirty="0">
                <a:solidFill>
                  <a:srgbClr val="1B1B27"/>
                </a:solidFill>
                <a:latin typeface="Raleway" pitchFamily="34" charset="0"/>
                <a:ea typeface="Raleway" pitchFamily="34" charset="-122"/>
                <a:cs typeface="Raleway" pitchFamily="34" charset="-120"/>
              </a:rPr>
              <a:t>Presentation Script Highlights</a:t>
            </a:r>
            <a:endParaRPr lang="en-US" sz="2000" dirty="0"/>
          </a:p>
          <a:p>
            <a:endParaRPr lang="en-US" dirty="0"/>
          </a:p>
        </p:txBody>
      </p:sp>
      <p:sp>
        <p:nvSpPr>
          <p:cNvPr id="3" name="Footer Placeholder 2">
            <a:extLst>
              <a:ext uri="{FF2B5EF4-FFF2-40B4-BE49-F238E27FC236}">
                <a16:creationId xmlns:a16="http://schemas.microsoft.com/office/drawing/2014/main" id="{F00C2AC9-CAE1-99F5-CF27-3BDF244B30CC}"/>
              </a:ext>
            </a:extLst>
          </p:cNvPr>
          <p:cNvSpPr>
            <a:spLocks noGrp="1"/>
          </p:cNvSpPr>
          <p:nvPr>
            <p:ph type="ftr" sz="quarter" idx="11"/>
          </p:nvPr>
        </p:nvSpPr>
        <p:spPr/>
        <p:txBody>
          <a:bodyPr/>
          <a:lstStyle/>
          <a:p>
            <a:r>
              <a:rPr lang="en-GB" dirty="0"/>
              <a:t>.</a:t>
            </a:r>
          </a:p>
        </p:txBody>
      </p:sp>
      <p:sp>
        <p:nvSpPr>
          <p:cNvPr id="6" name="TextBox 5">
            <a:extLst>
              <a:ext uri="{FF2B5EF4-FFF2-40B4-BE49-F238E27FC236}">
                <a16:creationId xmlns:a16="http://schemas.microsoft.com/office/drawing/2014/main" id="{A4122E6A-8A31-D010-3A47-D664F6271070}"/>
              </a:ext>
            </a:extLst>
          </p:cNvPr>
          <p:cNvSpPr txBox="1"/>
          <p:nvPr/>
        </p:nvSpPr>
        <p:spPr>
          <a:xfrm>
            <a:off x="942200" y="1183172"/>
            <a:ext cx="3048887" cy="1754326"/>
          </a:xfrm>
          <a:prstGeom prst="rect">
            <a:avLst/>
          </a:prstGeom>
          <a:noFill/>
        </p:spPr>
        <p:txBody>
          <a:bodyPr wrap="square" rtlCol="0">
            <a:spAutoFit/>
          </a:bodyPr>
          <a:lstStyle/>
          <a:p>
            <a:r>
              <a:rPr lang="en-US" sz="2000" b="1" u="sng" dirty="0"/>
              <a:t>Introduction</a:t>
            </a:r>
          </a:p>
          <a:p>
            <a:endParaRPr lang="en-US" sz="1600" b="1" dirty="0"/>
          </a:p>
          <a:p>
            <a:r>
              <a:rPr lang="en-US" dirty="0"/>
              <a:t>A short background of our group and the data we are studying in the context of our research project.</a:t>
            </a:r>
          </a:p>
        </p:txBody>
      </p:sp>
      <p:sp>
        <p:nvSpPr>
          <p:cNvPr id="7" name="TextBox 6">
            <a:extLst>
              <a:ext uri="{FF2B5EF4-FFF2-40B4-BE49-F238E27FC236}">
                <a16:creationId xmlns:a16="http://schemas.microsoft.com/office/drawing/2014/main" id="{31E1C7B2-ABA6-2491-839E-3FF39F6154AA}"/>
              </a:ext>
            </a:extLst>
          </p:cNvPr>
          <p:cNvSpPr txBox="1"/>
          <p:nvPr/>
        </p:nvSpPr>
        <p:spPr>
          <a:xfrm>
            <a:off x="4173966" y="1183003"/>
            <a:ext cx="3578710" cy="1754326"/>
          </a:xfrm>
          <a:prstGeom prst="rect">
            <a:avLst/>
          </a:prstGeom>
          <a:noFill/>
        </p:spPr>
        <p:txBody>
          <a:bodyPr wrap="square" rtlCol="0">
            <a:spAutoFit/>
          </a:bodyPr>
          <a:lstStyle/>
          <a:p>
            <a:r>
              <a:rPr lang="en-US" sz="2000" b="1" u="sng" dirty="0"/>
              <a:t>Dataset Overview</a:t>
            </a:r>
          </a:p>
          <a:p>
            <a:endParaRPr lang="en-US" sz="1600" dirty="0"/>
          </a:p>
          <a:p>
            <a:r>
              <a:rPr lang="en-US" dirty="0"/>
              <a:t>A description of the fitness_class_2212 data, where it is described in terms of content and structure</a:t>
            </a:r>
          </a:p>
        </p:txBody>
      </p:sp>
      <p:sp>
        <p:nvSpPr>
          <p:cNvPr id="8" name="TextBox 7">
            <a:extLst>
              <a:ext uri="{FF2B5EF4-FFF2-40B4-BE49-F238E27FC236}">
                <a16:creationId xmlns:a16="http://schemas.microsoft.com/office/drawing/2014/main" id="{2E79DBF2-2D0B-5DB0-10E8-8A8DD82286DC}"/>
              </a:ext>
            </a:extLst>
          </p:cNvPr>
          <p:cNvSpPr txBox="1"/>
          <p:nvPr/>
        </p:nvSpPr>
        <p:spPr>
          <a:xfrm>
            <a:off x="8200914" y="1183003"/>
            <a:ext cx="3578710" cy="1754326"/>
          </a:xfrm>
          <a:prstGeom prst="rect">
            <a:avLst/>
          </a:prstGeom>
          <a:noFill/>
        </p:spPr>
        <p:txBody>
          <a:bodyPr wrap="square" rtlCol="0">
            <a:spAutoFit/>
          </a:bodyPr>
          <a:lstStyle/>
          <a:p>
            <a:r>
              <a:rPr lang="en-US" sz="2000" b="1" u="sng" dirty="0"/>
              <a:t>Variable Selection</a:t>
            </a:r>
          </a:p>
          <a:p>
            <a:endParaRPr lang="en-US" sz="1600" dirty="0"/>
          </a:p>
          <a:p>
            <a:r>
              <a:rPr lang="en-US" dirty="0"/>
              <a:t>Reasons why we have selected our Time Slot (independent) and Calories Burned (dependent) variables, and their datatypes.</a:t>
            </a:r>
          </a:p>
        </p:txBody>
      </p:sp>
      <p:sp>
        <p:nvSpPr>
          <p:cNvPr id="9" name="TextBox 8">
            <a:extLst>
              <a:ext uri="{FF2B5EF4-FFF2-40B4-BE49-F238E27FC236}">
                <a16:creationId xmlns:a16="http://schemas.microsoft.com/office/drawing/2014/main" id="{32B0013F-2781-6F76-833A-4273963C6FE0}"/>
              </a:ext>
            </a:extLst>
          </p:cNvPr>
          <p:cNvSpPr txBox="1"/>
          <p:nvPr/>
        </p:nvSpPr>
        <p:spPr>
          <a:xfrm>
            <a:off x="965289" y="3429000"/>
            <a:ext cx="4176866" cy="1477328"/>
          </a:xfrm>
          <a:prstGeom prst="rect">
            <a:avLst/>
          </a:prstGeom>
          <a:noFill/>
        </p:spPr>
        <p:txBody>
          <a:bodyPr wrap="square" rtlCol="0">
            <a:spAutoFit/>
          </a:bodyPr>
          <a:lstStyle/>
          <a:p>
            <a:r>
              <a:rPr lang="en-US" sz="2000" b="1" u="sng" dirty="0"/>
              <a:t>Research Question</a:t>
            </a:r>
          </a:p>
          <a:p>
            <a:endParaRPr lang="en-US" sz="1600" dirty="0"/>
          </a:p>
          <a:p>
            <a:r>
              <a:rPr lang="en-US" dirty="0"/>
              <a:t>Our specific research question stated clearly and explained in a manner that would test the differences in means</a:t>
            </a:r>
          </a:p>
        </p:txBody>
      </p:sp>
      <p:sp>
        <p:nvSpPr>
          <p:cNvPr id="10" name="TextBox 9">
            <a:extLst>
              <a:ext uri="{FF2B5EF4-FFF2-40B4-BE49-F238E27FC236}">
                <a16:creationId xmlns:a16="http://schemas.microsoft.com/office/drawing/2014/main" id="{EEF61F62-AFC1-519D-CEA2-0C81DA703378}"/>
              </a:ext>
            </a:extLst>
          </p:cNvPr>
          <p:cNvSpPr txBox="1"/>
          <p:nvPr/>
        </p:nvSpPr>
        <p:spPr>
          <a:xfrm>
            <a:off x="6537407" y="3499395"/>
            <a:ext cx="4689304" cy="1477328"/>
          </a:xfrm>
          <a:prstGeom prst="rect">
            <a:avLst/>
          </a:prstGeom>
          <a:noFill/>
        </p:spPr>
        <p:txBody>
          <a:bodyPr wrap="square" rtlCol="0">
            <a:spAutoFit/>
          </a:bodyPr>
          <a:lstStyle/>
          <a:p>
            <a:r>
              <a:rPr lang="en-US" sz="2000" b="1" u="sng" dirty="0"/>
              <a:t>Hypotheses</a:t>
            </a:r>
          </a:p>
          <a:p>
            <a:endParaRPr lang="en-US" sz="1600" dirty="0"/>
          </a:p>
          <a:p>
            <a:r>
              <a:rPr lang="en-US" dirty="0"/>
              <a:t>Both the null (H 0 ) and alternative (H 1 ) hypotheses which concern our research question are presented.</a:t>
            </a:r>
          </a:p>
        </p:txBody>
      </p:sp>
    </p:spTree>
    <p:extLst>
      <p:ext uri="{BB962C8B-B14F-4D97-AF65-F5344CB8AC3E}">
        <p14:creationId xmlns:p14="http://schemas.microsoft.com/office/powerpoint/2010/main" val="1569191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1B2D2F8-0BA9-A0FF-ABFC-1A2685298448}"/>
              </a:ext>
            </a:extLst>
          </p:cNvPr>
          <p:cNvSpPr>
            <a:spLocks noGrp="1"/>
          </p:cNvSpPr>
          <p:nvPr>
            <p:ph type="subTitle" idx="1"/>
          </p:nvPr>
        </p:nvSpPr>
        <p:spPr>
          <a:xfrm>
            <a:off x="952800" y="503918"/>
            <a:ext cx="10259723" cy="4627480"/>
          </a:xfrm>
        </p:spPr>
        <p:txBody>
          <a:bodyPr vert="horz" lIns="0" tIns="0" rIns="0" bIns="0" rtlCol="0" anchor="t">
            <a:noAutofit/>
          </a:bodyPr>
          <a:lstStyle/>
          <a:p>
            <a:r>
              <a:rPr lang="en-US" sz="2000" dirty="0">
                <a:cs typeface="Arial"/>
              </a:rPr>
              <a:t>Why This Research Matters</a:t>
            </a:r>
          </a:p>
          <a:p>
            <a:r>
              <a:rPr lang="en-US" sz="1600" b="0" dirty="0">
                <a:cs typeface="Arial"/>
              </a:rPr>
              <a:t>We are not only studying the effect of the timing of classes on calories burned on a purely scholarly level. It has a practical implication on different stakeholders:</a:t>
            </a:r>
          </a:p>
          <a:p>
            <a:pPr>
              <a:lnSpc>
                <a:spcPct val="100000"/>
              </a:lnSpc>
            </a:pPr>
            <a:r>
              <a:rPr lang="en-US" sz="1600" dirty="0">
                <a:cs typeface="Arial"/>
              </a:rPr>
              <a:t>Fitness </a:t>
            </a:r>
            <a:r>
              <a:rPr lang="en-US" sz="1600" dirty="0" err="1">
                <a:cs typeface="Arial"/>
              </a:rPr>
              <a:t>Centres</a:t>
            </a:r>
            <a:endParaRPr lang="en-US" sz="1600" dirty="0">
              <a:cs typeface="Arial"/>
            </a:endParaRPr>
          </a:p>
          <a:p>
            <a:pPr>
              <a:lnSpc>
                <a:spcPct val="100000"/>
              </a:lnSpc>
            </a:pPr>
            <a:r>
              <a:rPr lang="en-US" sz="1600" b="0" dirty="0" err="1">
                <a:cs typeface="Arial"/>
              </a:rPr>
              <a:t>Optimise</a:t>
            </a:r>
            <a:r>
              <a:rPr lang="en-US" sz="1600" b="0" dirty="0">
                <a:cs typeface="Arial"/>
              </a:rPr>
              <a:t> the class schedules so as to maximize on the engagement of the participants and perceived value resulting in increased retention rates</a:t>
            </a:r>
          </a:p>
          <a:p>
            <a:pPr>
              <a:lnSpc>
                <a:spcPct val="100000"/>
              </a:lnSpc>
            </a:pPr>
            <a:r>
              <a:rPr lang="en-US" sz="1600" dirty="0">
                <a:cs typeface="Arial"/>
              </a:rPr>
              <a:t>Fitness Instructors</a:t>
            </a:r>
          </a:p>
          <a:p>
            <a:pPr>
              <a:lnSpc>
                <a:spcPct val="100000"/>
              </a:lnSpc>
            </a:pPr>
            <a:r>
              <a:rPr lang="en-US" sz="1600" b="0" dirty="0">
                <a:cs typeface="Arial"/>
              </a:rPr>
              <a:t>Adjust the intensity and structure of tailor classes according to time of the day, and increase the effectiveness of their sessions.</a:t>
            </a:r>
          </a:p>
          <a:p>
            <a:pPr>
              <a:lnSpc>
                <a:spcPct val="100000"/>
              </a:lnSpc>
            </a:pPr>
            <a:r>
              <a:rPr lang="en-US" sz="1600" dirty="0">
                <a:cs typeface="Arial"/>
              </a:rPr>
              <a:t>Participants</a:t>
            </a:r>
          </a:p>
          <a:p>
            <a:pPr>
              <a:lnSpc>
                <a:spcPct val="100000"/>
              </a:lnSpc>
            </a:pPr>
            <a:r>
              <a:rPr lang="en-US" sz="1600" b="0" dirty="0">
                <a:cs typeface="Arial"/>
              </a:rPr>
              <a:t>Give people the chance to make their own selections on the time to attend classes so that they can get optimal results during workouts depending on their physiological cycles.</a:t>
            </a:r>
          </a:p>
          <a:p>
            <a:pPr>
              <a:lnSpc>
                <a:spcPct val="100000"/>
              </a:lnSpc>
            </a:pPr>
            <a:endParaRPr lang="en-US" sz="1600" b="0" dirty="0">
              <a:cs typeface="Arial"/>
            </a:endParaRPr>
          </a:p>
          <a:p>
            <a:pPr>
              <a:lnSpc>
                <a:spcPct val="100000"/>
              </a:lnSpc>
            </a:pPr>
            <a:r>
              <a:rPr lang="en-US" sz="1600" b="0" dirty="0">
                <a:cs typeface="Arial"/>
              </a:rPr>
              <a:t>The knowledge of such dynamics can be used to make informed choices within the fitness sector and personal workouts</a:t>
            </a:r>
          </a:p>
          <a:p>
            <a:endParaRPr lang="en-US" sz="1800" dirty="0">
              <a:cs typeface="Arial"/>
            </a:endParaRPr>
          </a:p>
        </p:txBody>
      </p:sp>
      <p:sp>
        <p:nvSpPr>
          <p:cNvPr id="3" name="Footer Placeholder 2">
            <a:extLst>
              <a:ext uri="{FF2B5EF4-FFF2-40B4-BE49-F238E27FC236}">
                <a16:creationId xmlns:a16="http://schemas.microsoft.com/office/drawing/2014/main" id="{4CBC9F6D-3A3A-E2A6-EDDE-A7034D26F49C}"/>
              </a:ext>
            </a:extLst>
          </p:cNvPr>
          <p:cNvSpPr>
            <a:spLocks noGrp="1"/>
          </p:cNvSpPr>
          <p:nvPr>
            <p:ph type="ftr" sz="quarter" idx="11"/>
          </p:nvPr>
        </p:nvSpPr>
        <p:spPr/>
        <p:txBody>
          <a:bodyPr/>
          <a:lstStyle/>
          <a:p>
            <a:r>
              <a:rPr lang="en-GB" dirty="0"/>
              <a:t>.</a:t>
            </a:r>
          </a:p>
          <a:p>
            <a:endParaRPr lang="en-GB" dirty="0"/>
          </a:p>
        </p:txBody>
      </p:sp>
    </p:spTree>
    <p:extLst>
      <p:ext uri="{BB962C8B-B14F-4D97-AF65-F5344CB8AC3E}">
        <p14:creationId xmlns:p14="http://schemas.microsoft.com/office/powerpoint/2010/main" val="1273903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5338B4E1-FC7F-7A3B-7C6B-BC1D3364AE44}"/>
              </a:ext>
            </a:extLst>
          </p:cNvPr>
          <p:cNvSpPr>
            <a:spLocks noGrp="1"/>
          </p:cNvSpPr>
          <p:nvPr>
            <p:ph type="subTitle" idx="1"/>
          </p:nvPr>
        </p:nvSpPr>
        <p:spPr>
          <a:xfrm>
            <a:off x="966988" y="329727"/>
            <a:ext cx="10259723" cy="3654184"/>
          </a:xfrm>
        </p:spPr>
        <p:txBody>
          <a:bodyPr vert="horz" lIns="0" tIns="0" rIns="0" bIns="0" rtlCol="0" anchor="t">
            <a:noAutofit/>
          </a:bodyPr>
          <a:lstStyle/>
          <a:p>
            <a:r>
              <a:rPr lang="en-US" sz="2000" dirty="0">
                <a:cs typeface="Arial"/>
              </a:rPr>
              <a:t>Anticipated Challenges &amp;considerations</a:t>
            </a:r>
            <a:endParaRPr lang="en-US" sz="2000" dirty="0"/>
          </a:p>
          <a:p>
            <a:pPr>
              <a:lnSpc>
                <a:spcPct val="100000"/>
              </a:lnSpc>
            </a:pPr>
            <a:r>
              <a:rPr lang="en-US" sz="1800" b="0" dirty="0">
                <a:cs typeface="Arial"/>
              </a:rPr>
              <a:t>Although our strategy is strong, we do expect some difficulties and do not negate some major considerations:</a:t>
            </a:r>
          </a:p>
          <a:p>
            <a:pPr>
              <a:lnSpc>
                <a:spcPct val="100000"/>
              </a:lnSpc>
            </a:pPr>
            <a:r>
              <a:rPr lang="en-US" sz="1800" dirty="0">
                <a:cs typeface="Arial"/>
              </a:rPr>
              <a:t>Data Quality</a:t>
            </a:r>
          </a:p>
          <a:p>
            <a:pPr>
              <a:lnSpc>
                <a:spcPct val="100000"/>
              </a:lnSpc>
            </a:pPr>
            <a:r>
              <a:rPr lang="en-US" sz="1800" b="0" dirty="0">
                <a:cs typeface="Arial"/>
              </a:rPr>
              <a:t>To make sure that the information in the data is accurate and complete in the Calories Burned data set, the self-reported or </a:t>
            </a:r>
            <a:r>
              <a:rPr lang="en-US" sz="1800" b="0" dirty="0" err="1">
                <a:cs typeface="Arial"/>
              </a:rPr>
              <a:t>heartwatch</a:t>
            </a:r>
            <a:r>
              <a:rPr lang="en-US" sz="1800" b="0" dirty="0">
                <a:cs typeface="Arial"/>
              </a:rPr>
              <a:t>-tracked data may not be the same with the variables.</a:t>
            </a:r>
          </a:p>
          <a:p>
            <a:pPr>
              <a:lnSpc>
                <a:spcPct val="100000"/>
              </a:lnSpc>
            </a:pPr>
            <a:r>
              <a:rPr lang="en-US" sz="1800" dirty="0">
                <a:cs typeface="Arial"/>
              </a:rPr>
              <a:t>Confounding Factors</a:t>
            </a:r>
          </a:p>
          <a:p>
            <a:pPr>
              <a:lnSpc>
                <a:spcPct val="100000"/>
              </a:lnSpc>
            </a:pPr>
            <a:r>
              <a:rPr lang="en-US" sz="1800" b="0" dirty="0">
                <a:cs typeface="Arial"/>
              </a:rPr>
              <a:t>Considering the possibilities of other factors such as the fitness level of the participants, diet and rest which cannot be directly adjusted in this analysis.</a:t>
            </a:r>
          </a:p>
          <a:p>
            <a:pPr>
              <a:lnSpc>
                <a:spcPct val="100000"/>
              </a:lnSpc>
            </a:pPr>
            <a:r>
              <a:rPr lang="en-US" sz="1800" dirty="0" err="1">
                <a:cs typeface="Arial"/>
              </a:rPr>
              <a:t>Generalisability</a:t>
            </a:r>
            <a:endParaRPr lang="en-US" sz="1800" dirty="0">
              <a:cs typeface="Arial"/>
            </a:endParaRPr>
          </a:p>
          <a:p>
            <a:pPr>
              <a:lnSpc>
                <a:spcPct val="100000"/>
              </a:lnSpc>
            </a:pPr>
            <a:r>
              <a:rPr lang="en-US" sz="1800" b="0" dirty="0">
                <a:cs typeface="Arial"/>
              </a:rPr>
              <a:t>Realizing that the results of a specific dataset are not necessarily applicable to all types of fitness classes and demographics.</a:t>
            </a:r>
          </a:p>
        </p:txBody>
      </p:sp>
      <p:sp>
        <p:nvSpPr>
          <p:cNvPr id="3" name="Footer Placeholder 2">
            <a:extLst>
              <a:ext uri="{FF2B5EF4-FFF2-40B4-BE49-F238E27FC236}">
                <a16:creationId xmlns:a16="http://schemas.microsoft.com/office/drawing/2014/main" id="{17CDE122-D8C6-EE52-4EC2-B3F88C4832A7}"/>
              </a:ext>
            </a:extLst>
          </p:cNvPr>
          <p:cNvSpPr>
            <a:spLocks noGrp="1"/>
          </p:cNvSpPr>
          <p:nvPr>
            <p:ph type="ftr" sz="quarter" idx="11"/>
          </p:nvPr>
        </p:nvSpPr>
        <p:spPr/>
        <p:txBody>
          <a:bodyPr/>
          <a:lstStyle/>
          <a:p>
            <a:r>
              <a:rPr lang="en-GB" dirty="0"/>
              <a:t>.</a:t>
            </a:r>
          </a:p>
        </p:txBody>
      </p:sp>
    </p:spTree>
    <p:extLst>
      <p:ext uri="{BB962C8B-B14F-4D97-AF65-F5344CB8AC3E}">
        <p14:creationId xmlns:p14="http://schemas.microsoft.com/office/powerpoint/2010/main" val="4071947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A70AFC8-3F62-1807-02C5-4ED6EFB41B2D}"/>
              </a:ext>
            </a:extLst>
          </p:cNvPr>
          <p:cNvSpPr>
            <a:spLocks noGrp="1"/>
          </p:cNvSpPr>
          <p:nvPr>
            <p:ph type="subTitle" idx="1"/>
          </p:nvPr>
        </p:nvSpPr>
        <p:spPr>
          <a:xfrm>
            <a:off x="952800" y="529847"/>
            <a:ext cx="10259723" cy="4885107"/>
          </a:xfrm>
        </p:spPr>
        <p:txBody>
          <a:bodyPr vert="horz" lIns="0" tIns="0" rIns="0" bIns="0" rtlCol="0" anchor="t">
            <a:noAutofit/>
          </a:bodyPr>
          <a:lstStyle/>
          <a:p>
            <a:r>
              <a:rPr lang="en-US" sz="2000" dirty="0">
                <a:cs typeface="Arial"/>
              </a:rPr>
              <a:t>Next Steps in Our Research Journey </a:t>
            </a:r>
          </a:p>
          <a:p>
            <a:r>
              <a:rPr lang="en-US" sz="1800" b="0" dirty="0">
                <a:cs typeface="Arial"/>
              </a:rPr>
              <a:t>After formulating our research question and hypotheses, we shall be undertaking:</a:t>
            </a:r>
          </a:p>
          <a:p>
            <a:r>
              <a:rPr lang="en-US" sz="1800" dirty="0">
                <a:cs typeface="Arial"/>
              </a:rPr>
              <a:t>Data Pre-Processing </a:t>
            </a:r>
          </a:p>
          <a:p>
            <a:r>
              <a:rPr lang="en-US" sz="1800" b="0" dirty="0">
                <a:cs typeface="Arial"/>
              </a:rPr>
              <a:t>Preparation and cleaning of the data on the fitness class 2212 to undergo statistical analysis, including missing data and outliers.</a:t>
            </a:r>
          </a:p>
          <a:p>
            <a:r>
              <a:rPr lang="en-US" sz="1800" dirty="0">
                <a:cs typeface="Arial"/>
              </a:rPr>
              <a:t>Statistical Analysis</a:t>
            </a:r>
          </a:p>
          <a:p>
            <a:r>
              <a:rPr lang="en-US" sz="1800" b="0" dirty="0">
                <a:cs typeface="Arial"/>
              </a:rPr>
              <a:t>Implementing relevant statistics (e.g., t -test) to understand whether there is a significant difference in the means.</a:t>
            </a:r>
          </a:p>
          <a:p>
            <a:r>
              <a:rPr lang="en-US" sz="1800" dirty="0">
                <a:cs typeface="Arial"/>
              </a:rPr>
              <a:t>Interpretation &amp; Reporting </a:t>
            </a:r>
          </a:p>
          <a:p>
            <a:r>
              <a:rPr lang="en-US" sz="1800" b="0" dirty="0">
                <a:cs typeface="Arial"/>
              </a:rPr>
              <a:t>Making conclusions, interpreting the findings, and writing a comprehensive report about our findings.</a:t>
            </a:r>
          </a:p>
        </p:txBody>
      </p:sp>
      <p:sp>
        <p:nvSpPr>
          <p:cNvPr id="4" name="Slide Number Placeholder 3">
            <a:extLst>
              <a:ext uri="{FF2B5EF4-FFF2-40B4-BE49-F238E27FC236}">
                <a16:creationId xmlns:a16="http://schemas.microsoft.com/office/drawing/2014/main" id="{8BFF36CC-7CA3-EE82-223E-805EB27299DC}"/>
              </a:ext>
            </a:extLst>
          </p:cNvPr>
          <p:cNvSpPr>
            <a:spLocks noGrp="1"/>
          </p:cNvSpPr>
          <p:nvPr>
            <p:ph type="sldNum" sz="quarter" idx="12"/>
          </p:nvPr>
        </p:nvSpPr>
        <p:spPr/>
        <p:txBody>
          <a:bodyPr/>
          <a:lstStyle/>
          <a:p>
            <a:fld id="{E4D355CA-84B7-41B1-B164-8BB439CC7C6B}" type="slidenum">
              <a:rPr lang="en-GB" smtClean="0"/>
              <a:pPr/>
              <a:t>9</a:t>
            </a:fld>
            <a:endParaRPr lang="en-GB"/>
          </a:p>
        </p:txBody>
      </p:sp>
    </p:spTree>
    <p:extLst>
      <p:ext uri="{BB962C8B-B14F-4D97-AF65-F5344CB8AC3E}">
        <p14:creationId xmlns:p14="http://schemas.microsoft.com/office/powerpoint/2010/main" val="26632906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14DF19F-D2CC-F5D8-4D01-C36B42781BCE}"/>
              </a:ext>
            </a:extLst>
          </p:cNvPr>
          <p:cNvSpPr>
            <a:spLocks noGrp="1"/>
          </p:cNvSpPr>
          <p:nvPr>
            <p:ph type="subTitle" idx="1"/>
          </p:nvPr>
        </p:nvSpPr>
        <p:spPr>
          <a:xfrm>
            <a:off x="836632" y="791022"/>
            <a:ext cx="10107323" cy="3220430"/>
          </a:xfrm>
        </p:spPr>
        <p:txBody>
          <a:bodyPr vert="horz" lIns="0" tIns="0" rIns="0" bIns="0" rtlCol="0" anchor="t">
            <a:noAutofit/>
          </a:bodyPr>
          <a:lstStyle/>
          <a:p>
            <a:r>
              <a:rPr lang="en-US" dirty="0">
                <a:cs typeface="Arial"/>
              </a:rPr>
              <a:t>Thank You</a:t>
            </a:r>
          </a:p>
          <a:p>
            <a:endParaRPr lang="en-US" dirty="0">
              <a:cs typeface="Arial"/>
            </a:endParaRPr>
          </a:p>
          <a:p>
            <a:r>
              <a:rPr lang="en-US" sz="1800" b="0" dirty="0">
                <a:latin typeface="Arial" panose="020B0604020202020204"/>
                <a:cs typeface="Arial"/>
              </a:rPr>
              <a:t>Questions &amp; Discussion</a:t>
            </a:r>
          </a:p>
          <a:p>
            <a:r>
              <a:rPr lang="en-US" sz="1800" b="0" dirty="0">
                <a:latin typeface="Arial" panose="020B0604020202020204"/>
                <a:cs typeface="Arial"/>
              </a:rPr>
              <a:t>We appreciate your time and attention. we are now open to any questions or discussion you may have regarding our research question, dataset, or proposed methodology.</a:t>
            </a:r>
          </a:p>
          <a:p>
            <a:endParaRPr lang="en-US" sz="1800" dirty="0">
              <a:cs typeface="Arial"/>
            </a:endParaRPr>
          </a:p>
          <a:p>
            <a:endParaRPr lang="en-US" dirty="0">
              <a:cs typeface="Arial"/>
            </a:endParaRPr>
          </a:p>
        </p:txBody>
      </p:sp>
      <p:sp>
        <p:nvSpPr>
          <p:cNvPr id="3" name="Footer Placeholder 2">
            <a:extLst>
              <a:ext uri="{FF2B5EF4-FFF2-40B4-BE49-F238E27FC236}">
                <a16:creationId xmlns:a16="http://schemas.microsoft.com/office/drawing/2014/main" id="{7D5BD1B7-13D1-2E79-6D0C-E8219C11537C}"/>
              </a:ext>
            </a:extLst>
          </p:cNvPr>
          <p:cNvSpPr>
            <a:spLocks noGrp="1"/>
          </p:cNvSpPr>
          <p:nvPr>
            <p:ph type="ftr" sz="quarter" idx="11"/>
          </p:nvPr>
        </p:nvSpPr>
        <p:spPr/>
        <p:txBody>
          <a:bodyPr/>
          <a:lstStyle/>
          <a:p>
            <a:r>
              <a:rPr lang="en-GB" dirty="0"/>
              <a:t>.</a:t>
            </a:r>
          </a:p>
        </p:txBody>
      </p:sp>
    </p:spTree>
    <p:extLst>
      <p:ext uri="{BB962C8B-B14F-4D97-AF65-F5344CB8AC3E}">
        <p14:creationId xmlns:p14="http://schemas.microsoft.com/office/powerpoint/2010/main" val="126203511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93e6beba-c4aa-4731-af5d-d735b097eadb}" enabled="0" method="" siteId="{93e6beba-c4aa-4731-af5d-d735b097eadb}" removed="1"/>
</clbl:labelList>
</file>

<file path=docProps/app.xml><?xml version="1.0" encoding="utf-8"?>
<Properties xmlns="http://schemas.openxmlformats.org/officeDocument/2006/extended-properties" xmlns:vt="http://schemas.openxmlformats.org/officeDocument/2006/docPropsVTypes">
  <TotalTime>88</TotalTime>
  <Words>1066</Words>
  <Application>Microsoft Macintosh PowerPoint</Application>
  <PresentationFormat>Widescreen</PresentationFormat>
  <Paragraphs>136</Paragraphs>
  <Slides>10</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Raleway</vt:lpstr>
      <vt:lpstr>Herts Theme</vt:lpstr>
      <vt:lpstr>Research Question –  Tutorial Presentation for Feedback Date:  </vt:lpstr>
      <vt:lpstr>Dataset ID: fitness_class_2212 Sample Data: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Viswas Chowdary Kovi [Student-PECS]</cp:lastModifiedBy>
  <cp:revision>607</cp:revision>
  <dcterms:created xsi:type="dcterms:W3CDTF">2019-10-01T08:37:56Z</dcterms:created>
  <dcterms:modified xsi:type="dcterms:W3CDTF">2025-12-01T21:06:10Z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